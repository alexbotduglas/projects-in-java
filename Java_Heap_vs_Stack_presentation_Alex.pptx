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344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5F7FA"/>
                </a:solidFill>
                <a:latin typeface="Aptos"/>
              </a:rPr>
              <a:t>ПАМЯТЬ В 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4B96FF"/>
                </a:solidFill>
                <a:latin typeface="Aptos"/>
              </a:rPr>
              <a:t>Heap vs Stack простыми словами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8892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9C1CD"/>
                </a:solidFill>
                <a:latin typeface="Aptos"/>
              </a:rPr>
              <a:t>Как Java хранит данные, ссылки и объекты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3886200"/>
            <a:ext cx="2743200" cy="1143000"/>
          </a:xfrm>
          <a:prstGeom prst="roundRect">
            <a:avLst/>
          </a:prstGeom>
          <a:solidFill>
            <a:srgbClr val="1E2430"/>
          </a:solidFill>
          <a:ln>
            <a:solidFill>
              <a:srgbClr val="4B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360" y="4160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4B96FF"/>
                </a:solidFill>
                <a:latin typeface="Aptos"/>
              </a:rPr>
              <a:t>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3886200"/>
            <a:ext cx="2743200" cy="1143000"/>
          </a:xfrm>
          <a:prstGeom prst="roundRect">
            <a:avLst/>
          </a:prstGeom>
          <a:solidFill>
            <a:srgbClr val="1E2430"/>
          </a:solidFill>
          <a:ln>
            <a:solidFill>
              <a:srgbClr val="48B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4160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48BE7D"/>
                </a:solidFill>
                <a:latin typeface="Aptos"/>
              </a:rPr>
              <a:t>HEAP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9C1CD"/>
                </a:solidFill>
                <a:latin typeface="Aptos"/>
              </a:rPr>
              <a:t>Java Memory • Heap vs Stack   |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1. Зачем вообще разбираться в памяти?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9C1CD"/>
                </a:solidFill>
                <a:latin typeface="Aptos"/>
              </a:rPr>
              <a:t>Это важно не только для собеседования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303520" cy="4434840"/>
          </a:xfrm>
          <a:prstGeom prst="roundRect">
            <a:avLst/>
          </a:prstGeom>
          <a:solidFill>
            <a:srgbClr val="1E2430"/>
          </a:solidFill>
          <a:ln>
            <a:solidFill>
              <a:srgbClr val="1E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B96FF"/>
                </a:solidFill>
                <a:latin typeface="Aptos"/>
              </a:rPr>
              <a:t>Когда выполняется Java-код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4709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JVM запускает программу и выделяет память.</a:t>
            </a:r>
          </a:p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Методы получают свои Stack Frame.</a:t>
            </a:r>
          </a:p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Объекты создаются в Heap.</a:t>
            </a:r>
          </a:p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Переменные-ссылки связывают Stack и Heap.</a:t>
            </a:r>
          </a:p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Garbage Collector освобождает недостижимые объекты.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303520" cy="4434840"/>
          </a:xfrm>
          <a:prstGeom prst="roundRect">
            <a:avLst/>
          </a:prstGeom>
          <a:solidFill>
            <a:srgbClr val="1E2430"/>
          </a:solidFill>
          <a:ln>
            <a:solidFill>
              <a:srgbClr val="1E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916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8BE7D"/>
                </a:solidFill>
                <a:latin typeface="Aptos"/>
              </a:rPr>
              <a:t>Это помогает понять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194560"/>
            <a:ext cx="4709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Почему рекурсия может привести к StackOverflowError.</a:t>
            </a:r>
          </a:p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Почему большое количество объектов может закончить Heap.</a:t>
            </a:r>
          </a:p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Почему ссылка — это не сам объект.</a:t>
            </a:r>
          </a:p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Как работает жизненный цикл локальных переменных.</a:t>
            </a:r>
          </a:p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Что примерно делает Garbage Collector.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9C1CD"/>
                </a:solidFill>
                <a:latin typeface="Aptos"/>
              </a:rPr>
              <a:t>Java Memory • Heap vs Stack   |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2. Пример кода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9C1CD"/>
                </a:solidFill>
                <a:latin typeface="Aptos"/>
              </a:rPr>
              <a:t>Сначала посмотрим на две обычные строки Java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0698480" cy="1600200"/>
          </a:xfrm>
          <a:prstGeom prst="round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55648"/>
            <a:ext cx="9875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>
                <a:solidFill>
                  <a:srgbClr val="F5F7FA"/>
                </a:solidFill>
                <a:latin typeface="Aptos"/>
              </a:rPr>
              <a:t>int age = 25;</a:t>
            </a:r>
            <a:br/>
            <a:r>
              <a:t>Person user = new Person("Alex");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5AA41"/>
                </a:solidFill>
                <a:latin typeface="Aptos"/>
              </a:rPr>
              <a:t>Что происходит с этими данными после запуска?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160520"/>
            <a:ext cx="85039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age — локальная переменная с примитивным значением.</a:t>
            </a:r>
          </a:p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user — ссылка на объект Person.</a:t>
            </a:r>
          </a:p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new Person(...) — создание самого объекта.</a:t>
            </a:r>
          </a:p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Важно: конкретное физическое размещение зависит от JVM и реализации.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9C1CD"/>
                </a:solidFill>
                <a:latin typeface="Aptos"/>
              </a:rPr>
              <a:t>Java Memory • Heap vs Stack   |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3. Что такое Stack?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9C1CD"/>
                </a:solidFill>
                <a:latin typeface="Aptos"/>
              </a:rPr>
              <a:t>Стек — область памяти, связанная с выполнением потоков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657600" cy="4480560"/>
          </a:xfrm>
          <a:prstGeom prst="roundRect">
            <a:avLst/>
          </a:prstGeom>
          <a:solidFill>
            <a:srgbClr val="1E2430"/>
          </a:solidFill>
          <a:ln>
            <a:solidFill>
              <a:srgbClr val="4B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4B96FF"/>
                </a:solidFill>
                <a:latin typeface="Aptos"/>
              </a:rPr>
              <a:t>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5166360"/>
            <a:ext cx="2926080" cy="685800"/>
          </a:xfrm>
          <a:prstGeom prst="roundRect">
            <a:avLst/>
          </a:prstGeom>
          <a:solidFill>
            <a:srgbClr val="23324B"/>
          </a:solidFill>
          <a:ln>
            <a:solidFill>
              <a:srgbClr val="4B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53492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  <a:latin typeface="Aptos"/>
              </a:rPr>
              <a:t>Frame: main()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160520"/>
            <a:ext cx="2926080" cy="685800"/>
          </a:xfrm>
          <a:prstGeom prst="roundRect">
            <a:avLst/>
          </a:prstGeom>
          <a:solidFill>
            <a:srgbClr val="23324B"/>
          </a:solidFill>
          <a:ln>
            <a:solidFill>
              <a:srgbClr val="4B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43434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  <a:latin typeface="Aptos"/>
              </a:rPr>
              <a:t>Frame: calculate()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3154680"/>
            <a:ext cx="2926080" cy="685800"/>
          </a:xfrm>
          <a:prstGeom prst="roundRect">
            <a:avLst/>
          </a:prstGeom>
          <a:solidFill>
            <a:srgbClr val="23324B"/>
          </a:solidFill>
          <a:ln>
            <a:solidFill>
              <a:srgbClr val="4B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3375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  <a:latin typeface="Aptos"/>
              </a:rPr>
              <a:t>Frame: print()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1417320"/>
            <a:ext cx="6583680" cy="4480560"/>
          </a:xfrm>
          <a:prstGeom prst="roundRect">
            <a:avLst/>
          </a:prstGeom>
          <a:solidFill>
            <a:srgbClr val="1E2430"/>
          </a:solidFill>
          <a:ln>
            <a:solidFill>
              <a:srgbClr val="1E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17373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B96FF"/>
                </a:solidFill>
                <a:latin typeface="Aptos"/>
              </a:rPr>
              <a:t>Главная идея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2240280"/>
            <a:ext cx="5806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При вызове метода создаётся Stack Frame.</a:t>
            </a:r>
          </a:p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В кадре находятся данные, необходимые для выполнения метода.</a:t>
            </a:r>
          </a:p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После завершения метода его frame больше не нужен.</a:t>
            </a:r>
          </a:p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У каждого Java-потока есть собственный стек.</a:t>
            </a:r>
          </a:p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Размер стека ограничен.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9C1CD"/>
                </a:solidFill>
                <a:latin typeface="Aptos"/>
              </a:rPr>
              <a:t>Java Memory • Heap vs Stack   |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4. Что хранится в Stack Frame?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9C1CD"/>
                </a:solidFill>
                <a:latin typeface="Aptos"/>
              </a:rPr>
              <a:t>Упрощённая модель для понимания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303520" cy="4526280"/>
          </a:xfrm>
          <a:prstGeom prst="roundRect">
            <a:avLst/>
          </a:prstGeom>
          <a:solidFill>
            <a:srgbClr val="1E2430"/>
          </a:solidFill>
          <a:ln>
            <a:solidFill>
              <a:srgbClr val="1E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B96FF"/>
                </a:solidFill>
                <a:latin typeface="Aptos"/>
              </a:rPr>
              <a:t>Локальные примитивы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4572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5F7FA"/>
                </a:solidFill>
                <a:latin typeface="Aptos"/>
              </a:rPr>
              <a:t>int age = 25;</a:t>
            </a:r>
            <a:br/>
            <a:r>
              <a:t>boolean active = true;</a:t>
            </a:r>
            <a:br/>
            <a:r>
              <a:t>double price = 99.9;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0690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AA41"/>
                </a:solidFill>
                <a:latin typeface="Aptos"/>
              </a:rPr>
              <a:t>Локальные ссылки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177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Person user = new Person("Alex");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03520" cy="4526280"/>
          </a:xfrm>
          <a:prstGeom prst="roundRect">
            <a:avLst/>
          </a:prstGeom>
          <a:solidFill>
            <a:srgbClr val="1E2430"/>
          </a:solidFill>
          <a:ln>
            <a:solidFill>
              <a:srgbClr val="1E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916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8BE7D"/>
                </a:solidFill>
                <a:latin typeface="Aptos"/>
              </a:rPr>
              <a:t>Важно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24028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Не нужно воспринимать Stack как буквальную таблицу «всё хранится здесь».</a:t>
            </a:r>
          </a:p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Java/JVM может оптимизировать размещение.</a:t>
            </a:r>
          </a:p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Для базового понимания полезна модель: локальные данные + ссылки → Stack Frame.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9C1CD"/>
                </a:solidFill>
                <a:latin typeface="Aptos"/>
              </a:rPr>
              <a:t>Java Memory • Heap vs Stack   |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5. Что такое Heap?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9C1CD"/>
                </a:solidFill>
                <a:latin typeface="Aptos"/>
              </a:rPr>
              <a:t>Общая область памяти для объектов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840480" cy="4526280"/>
          </a:xfrm>
          <a:prstGeom prst="roundRect">
            <a:avLst/>
          </a:prstGeom>
          <a:solidFill>
            <a:srgbClr val="1E2430"/>
          </a:solidFill>
          <a:ln>
            <a:solidFill>
              <a:srgbClr val="4B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4B96FF"/>
                </a:solidFill>
                <a:latin typeface="Aptos"/>
              </a:rPr>
              <a:t>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" y="2331720"/>
            <a:ext cx="2834640" cy="685800"/>
          </a:xfrm>
          <a:prstGeom prst="roundRect">
            <a:avLst/>
          </a:prstGeom>
          <a:solidFill>
            <a:srgbClr val="23324B"/>
          </a:solidFill>
          <a:ln>
            <a:solidFill>
              <a:srgbClr val="4B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52374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user → ссылка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27432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AA41"/>
                </a:solidFill>
                <a:latin typeface="Aptos"/>
              </a:rPr>
              <a:t>──────────────→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417320"/>
            <a:ext cx="6126480" cy="4526280"/>
          </a:xfrm>
          <a:prstGeom prst="roundRect">
            <a:avLst/>
          </a:prstGeom>
          <a:solidFill>
            <a:srgbClr val="1E2430"/>
          </a:solidFill>
          <a:ln>
            <a:solidFill>
              <a:srgbClr val="48B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16916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48BE7D"/>
                </a:solidFill>
                <a:latin typeface="Aptos"/>
              </a:rPr>
              <a:t>HEAP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2331720"/>
            <a:ext cx="3474720" cy="1463040"/>
          </a:xfrm>
          <a:prstGeom prst="roundRect">
            <a:avLst/>
          </a:prstGeom>
          <a:solidFill>
            <a:srgbClr val="234132"/>
          </a:solidFill>
          <a:ln>
            <a:solidFill>
              <a:srgbClr val="48B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578608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F7FA"/>
                </a:solidFill>
                <a:latin typeface="Aptos"/>
              </a:rPr>
              <a:t>Person Object</a:t>
            </a:r>
            <a:br/>
            <a:r>
              <a:t>name = "Alex"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41605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9C1CD"/>
                </a:solidFill>
                <a:latin typeface="Aptos"/>
              </a:rPr>
              <a:t>new Person(...)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9C1CD"/>
                </a:solidFill>
                <a:latin typeface="Aptos"/>
              </a:rPr>
              <a:t>Java Memory • Heap vs Stack   |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6. Stack + Heap: как они работают вместе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474720" cy="4572000"/>
          </a:xfrm>
          <a:prstGeom prst="roundRect">
            <a:avLst/>
          </a:prstGeom>
          <a:solidFill>
            <a:srgbClr val="1E2430"/>
          </a:solidFill>
          <a:ln>
            <a:solidFill>
              <a:srgbClr val="4B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B96FF"/>
                </a:solidFill>
                <a:latin typeface="Aptos"/>
              </a:rPr>
              <a:t>STACK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231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5F7FA"/>
                </a:solidFill>
                <a:latin typeface="Aptos"/>
              </a:rPr>
              <a:t>age =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5AA41"/>
                </a:solidFill>
                <a:latin typeface="Aptos"/>
              </a:rPr>
              <a:t>user = reference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1371600"/>
            <a:ext cx="7040880" cy="4572000"/>
          </a:xfrm>
          <a:prstGeom prst="roundRect">
            <a:avLst/>
          </a:prstGeom>
          <a:solidFill>
            <a:srgbClr val="1E2430"/>
          </a:solidFill>
          <a:ln>
            <a:solidFill>
              <a:srgbClr val="48B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92040" y="164592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8BE7D"/>
                </a:solidFill>
                <a:latin typeface="Aptos"/>
              </a:rPr>
              <a:t>HEAP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423160"/>
            <a:ext cx="3474720" cy="1828800"/>
          </a:xfrm>
          <a:prstGeom prst="roundRect">
            <a:avLst/>
          </a:prstGeom>
          <a:solidFill>
            <a:srgbClr val="234132"/>
          </a:solidFill>
          <a:ln>
            <a:solidFill>
              <a:srgbClr val="48B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697480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F7FA"/>
                </a:solidFill>
                <a:latin typeface="Aptos"/>
              </a:rPr>
              <a:t>Person</a:t>
            </a:r>
            <a:br/>
            <a:r>
              <a:t>name = "Alex"</a:t>
            </a:r>
            <a:br/>
            <a:r>
              <a:t>age =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480060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B9C1CD"/>
                </a:solidFill>
                <a:latin typeface="Aptos"/>
              </a:rPr>
              <a:t>Ссылка user указывает на объект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306324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5AA41"/>
                </a:solidFill>
                <a:latin typeface="Aptos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9C1CD"/>
                </a:solidFill>
                <a:latin typeface="Aptos"/>
              </a:rPr>
              <a:t>Java Memory • Heap vs Stack   |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7. Что делает new?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9C1CD"/>
                </a:solidFill>
                <a:latin typeface="Aptos"/>
              </a:rPr>
              <a:t>Ключевое слово new создаёт экземпляр объекта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5F7FA"/>
                </a:solidFill>
                <a:latin typeface="Aptos"/>
              </a:rPr>
              <a:t>Person user = new Person("Alex");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14600"/>
            <a:ext cx="3337560" cy="1051560"/>
          </a:xfrm>
          <a:prstGeom prst="roundRect">
            <a:avLst/>
          </a:prstGeom>
          <a:solidFill>
            <a:srgbClr val="1E2430"/>
          </a:solidFill>
          <a:ln>
            <a:solidFill>
              <a:srgbClr val="1E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7706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8BE7D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974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Выполняется выражение new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2514600"/>
            <a:ext cx="3337560" cy="1051560"/>
          </a:xfrm>
          <a:prstGeom prst="roundRect">
            <a:avLst/>
          </a:prstGeom>
          <a:solidFill>
            <a:srgbClr val="1E2430"/>
          </a:solidFill>
          <a:ln>
            <a:solidFill>
              <a:srgbClr val="1E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7706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8BE7D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26974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Создаётся экземпляр Person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514600"/>
            <a:ext cx="3337560" cy="1051560"/>
          </a:xfrm>
          <a:prstGeom prst="roundRect">
            <a:avLst/>
          </a:prstGeom>
          <a:solidFill>
            <a:srgbClr val="1E2430"/>
          </a:solidFill>
          <a:ln>
            <a:solidFill>
              <a:srgbClr val="1E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27706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8BE7D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26974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Конструктор инициализирует объект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3337560" cy="1051560"/>
          </a:xfrm>
          <a:prstGeom prst="roundRect">
            <a:avLst/>
          </a:prstGeom>
          <a:solidFill>
            <a:srgbClr val="1E2430"/>
          </a:solidFill>
          <a:ln>
            <a:solidFill>
              <a:srgbClr val="1E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18795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8BE7D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1148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Получается ссылка на объект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3931920"/>
            <a:ext cx="3337560" cy="1051560"/>
          </a:xfrm>
          <a:prstGeom prst="roundRect">
            <a:avLst/>
          </a:prstGeom>
          <a:solidFill>
            <a:srgbClr val="1E2430"/>
          </a:solidFill>
          <a:ln>
            <a:solidFill>
              <a:srgbClr val="1E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418795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8BE7D"/>
                </a:solidFill>
                <a:latin typeface="Apto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41148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Ссылка присваивается переменной user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3949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5AA41"/>
                </a:solidFill>
                <a:latin typeface="Aptos"/>
              </a:rPr>
              <a:t>Важно: ссылка и объект — не одно и то же.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9C1CD"/>
                </a:solidFill>
                <a:latin typeface="Aptos"/>
              </a:rPr>
              <a:t>Java Memory • Heap vs Stack   |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8. Garbage Collector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9C1CD"/>
                </a:solidFill>
                <a:latin typeface="Aptos"/>
              </a:rPr>
              <a:t>Кто освобождает память Heap?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303520" cy="4526280"/>
          </a:xfrm>
          <a:prstGeom prst="roundRect">
            <a:avLst/>
          </a:prstGeom>
          <a:solidFill>
            <a:srgbClr val="1E2430"/>
          </a:solidFill>
          <a:ln>
            <a:solidFill>
              <a:srgbClr val="48B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8BE7D"/>
                </a:solidFill>
                <a:latin typeface="Aptos"/>
              </a:rPr>
              <a:t>ОБЪЕКТ ДОСТИЖИМ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F7FA"/>
                </a:solidFill>
                <a:latin typeface="Aptos"/>
              </a:rPr>
              <a:t>Stack → user → Person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B9C1CD"/>
                </a:solidFill>
                <a:latin typeface="Aptos"/>
              </a:rPr>
              <a:t>Ссылка существует → объект нужен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03520" cy="4526280"/>
          </a:xfrm>
          <a:prstGeom prst="roundRect">
            <a:avLst/>
          </a:prstGeom>
          <a:solidFill>
            <a:srgbClr val="1E2430"/>
          </a:solidFill>
          <a:ln>
            <a:solidFill>
              <a:srgbClr val="F5A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916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AA41"/>
                </a:solidFill>
                <a:latin typeface="Aptos"/>
              </a:rPr>
              <a:t>ОБЪЕКТ НЕДОСТИЖИМ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688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F7FA"/>
                </a:solidFill>
                <a:latin typeface="Aptos"/>
              </a:rPr>
              <a:t>Person ← нет доступных ссылок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29184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B9C1CD"/>
                </a:solidFill>
                <a:latin typeface="Aptos"/>
              </a:rPr>
              <a:t>GC может определить объект как мусор и освободить память.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0749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AA41"/>
                </a:solidFill>
                <a:latin typeface="Aptos"/>
              </a:rPr>
              <a:t>GC не обязан запускаться сразу.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9C1CD"/>
                </a:solidFill>
                <a:latin typeface="Aptos"/>
              </a:rPr>
              <a:t>Java Memory • Heap vs Stack   |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9. StackOverflowError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9C1CD"/>
                </a:solidFill>
                <a:latin typeface="Aptos"/>
              </a:rPr>
              <a:t>Классическая проблема глубокой или бесконечной рекурсии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029200" cy="4480560"/>
          </a:xfrm>
          <a:prstGeom prst="roundRect">
            <a:avLst/>
          </a:prstGeom>
          <a:solidFill>
            <a:srgbClr val="2D1C20"/>
          </a:solidFill>
          <a:ln>
            <a:solidFill>
              <a:srgbClr val="EB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7830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7FA"/>
                </a:solidFill>
                <a:latin typeface="Aptos"/>
              </a:rPr>
              <a:t>void test() {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2860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7FA"/>
                </a:solidFill>
                <a:latin typeface="Aptos"/>
              </a:rPr>
              <a:t>    test();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7889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7FA"/>
                </a:solidFill>
                <a:latin typeface="Apto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AA41"/>
                </a:solidFill>
                <a:latin typeface="Aptos"/>
              </a:rPr>
              <a:t>main → test → test → test → 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0916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B9C1CD"/>
                </a:solidFill>
                <a:latin typeface="Aptos"/>
              </a:rPr>
              <a:t>Каждый вызов добавляет новый Stack Frame.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303520" cy="4480560"/>
          </a:xfrm>
          <a:prstGeom prst="roundRect">
            <a:avLst/>
          </a:prstGeom>
          <a:solidFill>
            <a:srgbClr val="1E2430"/>
          </a:solidFill>
          <a:ln>
            <a:solidFill>
              <a:srgbClr val="1E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B555A"/>
                </a:solidFill>
                <a:latin typeface="Aptos"/>
              </a:rPr>
              <a:t>Что происходит?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4572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Рекурсивный метод не имеет корректного условия выхода.</a:t>
            </a:r>
          </a:p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Новые кадры продолжают добавляться.</a:t>
            </a:r>
          </a:p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Размер Stack конечен.</a:t>
            </a:r>
          </a:p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Когда места не хватает → StackOverflowError.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9C1CD"/>
                </a:solidFill>
                <a:latin typeface="Aptos"/>
              </a:rPr>
              <a:t>Java Memory • Heap vs Stack   |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10. OutOfMemoryError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9C1CD"/>
                </a:solidFill>
                <a:latin typeface="Aptos"/>
              </a:rPr>
              <a:t>Heap переполняется, когда приложение удерживает слишком много данных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303520" cy="4526280"/>
          </a:xfrm>
          <a:prstGeom prst="roundRect">
            <a:avLst/>
          </a:prstGeom>
          <a:solidFill>
            <a:srgbClr val="1E2430"/>
          </a:solidFill>
          <a:ln>
            <a:solidFill>
              <a:srgbClr val="48B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List&lt;byte[]&gt; data = new ArrayList&lt;&gt;();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F7FA"/>
                </a:solidFill>
                <a:latin typeface="Aptos"/>
              </a:rPr>
              <a:t>while (true) {</a:t>
            </a:r>
            <a:br/>
            <a:r>
              <a:t>    data.add(new byte[10_000_000]);</a:t>
            </a:r>
            <a:br/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605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5AA41"/>
                </a:solidFill>
                <a:latin typeface="Aptos"/>
              </a:rPr>
              <a:t>Массивы остаются достижимыми через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03520" cy="4526280"/>
          </a:xfrm>
          <a:prstGeom prst="roundRect">
            <a:avLst/>
          </a:prstGeom>
          <a:solidFill>
            <a:srgbClr val="1E2430"/>
          </a:solidFill>
          <a:ln>
            <a:solidFill>
              <a:srgbClr val="1E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8BE7D"/>
                </a:solidFill>
                <a:latin typeface="Aptos"/>
              </a:rPr>
              <a:t>Почему GC не спасает?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40280"/>
            <a:ext cx="4572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GC ищет объекты, которые больше не достижимы.</a:t>
            </a:r>
          </a:p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Элементы списка всё ещё имеют ссылки на массивы.</a:t>
            </a:r>
          </a:p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Значит, эти объекты нельзя просто удалить.</a:t>
            </a:r>
          </a:p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Heap постепенно заполняется.</a:t>
            </a:r>
          </a:p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Результат: OutOfMemoryError: Java heap space.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9C1CD"/>
                </a:solidFill>
                <a:latin typeface="Aptos"/>
              </a:rPr>
              <a:t>Java Memory • Heap vs Stack   |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11. StackOverflow vs OutOfMemory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9C1CD"/>
                </a:solidFill>
                <a:latin typeface="Aptos"/>
              </a:rPr>
              <a:t>Две ошибки — две разные причины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5303520" cy="4389120"/>
          </a:xfrm>
          <a:prstGeom prst="roundRect">
            <a:avLst/>
          </a:prstGeom>
          <a:solidFill>
            <a:srgbClr val="2D1C20"/>
          </a:solidFill>
          <a:ln>
            <a:solidFill>
              <a:srgbClr val="EB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B555A"/>
                </a:solidFill>
                <a:latin typeface="Aptos"/>
              </a:rPr>
              <a:t>StackOverflowError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4480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Проблема в Stack.</a:t>
            </a:r>
          </a:p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Частая причина — бесконечная рекурсия.</a:t>
            </a:r>
          </a:p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Каждый вызов метода добавляет frame.</a:t>
            </a:r>
          </a:p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Стек достигает своего лимита.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303520" cy="4389120"/>
          </a:xfrm>
          <a:prstGeom prst="roundRect">
            <a:avLst/>
          </a:prstGeom>
          <a:solidFill>
            <a:srgbClr val="1C2D23"/>
          </a:solidFill>
          <a:ln>
            <a:solidFill>
              <a:srgbClr val="48B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48BE7D"/>
                </a:solidFill>
                <a:latin typeface="Aptos"/>
              </a:rPr>
              <a:t>OutOfMemoryError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468880"/>
            <a:ext cx="4480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Проблема может быть в Heap.</a:t>
            </a:r>
          </a:p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Слишком много объектов или слишком большие объекты.</a:t>
            </a:r>
          </a:p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Объекты могут оставаться достижимыми.</a:t>
            </a:r>
          </a:p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Свободной памяти Heap становится недостаточно.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9C1CD"/>
                </a:solidFill>
                <a:latin typeface="Aptos"/>
              </a:rPr>
              <a:t>Java Memory • Heap vs Stack   |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12. Stack vs Heap — сравнение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9C1CD"/>
                </a:solidFill>
                <a:latin typeface="Aptos"/>
              </a:rPr>
              <a:t>Шпаргалка для собеседования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17320"/>
          <a:ext cx="10972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389120"/>
                <a:gridCol w="4389120"/>
              </a:tblGrid>
              <a:tr h="7543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Характеристика</a:t>
                      </a:r>
                    </a:p>
                  </a:txBody>
                  <a:tcPr>
                    <a:solidFill>
                      <a:srgbClr val="323C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Stack</a:t>
                      </a:r>
                    </a:p>
                  </a:txBody>
                  <a:tcPr>
                    <a:solidFill>
                      <a:srgbClr val="323C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Heap</a:t>
                      </a:r>
                    </a:p>
                  </a:txBody>
                  <a:tcPr>
                    <a:solidFill>
                      <a:srgbClr val="323C4B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Область</a:t>
                      </a:r>
                    </a:p>
                  </a:txBody>
                  <a:tcPr>
                    <a:solidFill>
                      <a:srgbClr val="242A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У каждого Thread своя</a:t>
                      </a:r>
                    </a:p>
                  </a:txBody>
                  <a:tcPr>
                    <a:solidFill>
                      <a:srgbClr val="242A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Общая для приложения</a:t>
                      </a:r>
                    </a:p>
                  </a:txBody>
                  <a:tcPr>
                    <a:solidFill>
                      <a:srgbClr val="242A36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Основное содержимое</a:t>
                      </a:r>
                    </a:p>
                  </a:txBody>
                  <a:tcPr>
                    <a:solidFill>
                      <a:srgbClr val="242A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Stack Frames, локальные данные, ссылки</a:t>
                      </a:r>
                    </a:p>
                  </a:txBody>
                  <a:tcPr>
                    <a:solidFill>
                      <a:srgbClr val="242A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Объекты и массивы</a:t>
                      </a:r>
                    </a:p>
                  </a:txBody>
                  <a:tcPr>
                    <a:solidFill>
                      <a:srgbClr val="242A36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Жизненный цикл</a:t>
                      </a:r>
                    </a:p>
                  </a:txBody>
                  <a:tcPr>
                    <a:solidFill>
                      <a:srgbClr val="242A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Frame исчезает после завершения метода</a:t>
                      </a:r>
                    </a:p>
                  </a:txBody>
                  <a:tcPr>
                    <a:solidFill>
                      <a:srgbClr val="242A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Объект живёт, пока достижим</a:t>
                      </a:r>
                    </a:p>
                  </a:txBody>
                  <a:tcPr>
                    <a:solidFill>
                      <a:srgbClr val="242A36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Очистка</a:t>
                      </a:r>
                    </a:p>
                  </a:txBody>
                  <a:tcPr>
                    <a:solidFill>
                      <a:srgbClr val="242A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Автоматически при завершении frame</a:t>
                      </a:r>
                    </a:p>
                  </a:txBody>
                  <a:tcPr>
                    <a:solidFill>
                      <a:srgbClr val="242A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Garbage Collector</a:t>
                      </a:r>
                    </a:p>
                  </a:txBody>
                  <a:tcPr>
                    <a:solidFill>
                      <a:srgbClr val="242A36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Типичная ошибка</a:t>
                      </a:r>
                    </a:p>
                  </a:txBody>
                  <a:tcPr>
                    <a:solidFill>
                      <a:srgbClr val="242A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StackOverflowError</a:t>
                      </a:r>
                    </a:p>
                  </a:txBody>
                  <a:tcPr>
                    <a:solidFill>
                      <a:srgbClr val="242A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OutOfMemoryError</a:t>
                      </a:r>
                    </a:p>
                  </a:txBody>
                  <a:tcPr>
                    <a:solidFill>
                      <a:srgbClr val="242A3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9C1CD"/>
                </a:solidFill>
                <a:latin typeface="Aptos"/>
              </a:rPr>
              <a:t>Java Memory • Heap vs Stack   |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13. Частые ошибки в объяснениях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9C1CD"/>
                </a:solidFill>
                <a:latin typeface="Aptos"/>
              </a:rPr>
              <a:t>Что лучше не говорить на собеседовании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303520" cy="4526280"/>
          </a:xfrm>
          <a:prstGeom prst="roundRect">
            <a:avLst/>
          </a:prstGeom>
          <a:solidFill>
            <a:srgbClr val="2D1C20"/>
          </a:solidFill>
          <a:ln>
            <a:solidFill>
              <a:srgbClr val="EB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B555A"/>
                </a:solidFill>
                <a:latin typeface="Aptos"/>
              </a:rPr>
              <a:t>❌ Слишком упрощённо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46634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«Все примитивы всегда лежат только в Stack».</a:t>
            </a:r>
          </a:p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«Все объекты всегда находятся только в Heap без исключений».</a:t>
            </a:r>
          </a:p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«GC запускается сразу после того, как ссылка исчезла».</a:t>
            </a:r>
          </a:p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«Stack всегда быстрее Heap в любом сценарии».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303520" cy="4526280"/>
          </a:xfrm>
          <a:prstGeom prst="roundRect">
            <a:avLst/>
          </a:prstGeom>
          <a:solidFill>
            <a:srgbClr val="1C2D23"/>
          </a:solidFill>
          <a:ln>
            <a:solidFill>
              <a:srgbClr val="48B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8BE7D"/>
                </a:solidFill>
                <a:latin typeface="Aptos"/>
              </a:rPr>
              <a:t>✅ Лучше сказать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31720"/>
            <a:ext cx="46634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• Это удобная концептуальная модель JVM.</a:t>
            </a:r>
          </a:p>
          <a:p>
            <a:pPr>
              <a:spcAft>
                <a:spcPts val="8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• Локальные примитивы и ссылки обычно объясняют через Stack Frame.</a:t>
            </a:r>
          </a:p>
          <a:p>
            <a:pPr>
              <a:spcAft>
                <a:spcPts val="8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• Объекты — через Heap.</a:t>
            </a:r>
          </a:p>
          <a:p>
            <a:pPr>
              <a:spcAft>
                <a:spcPts val="8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• Реальная JVM может оптимизировать размещение и выполнение.</a:t>
            </a:r>
          </a:p>
          <a:p>
            <a:pPr>
              <a:spcAft>
                <a:spcPts val="8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• GC освобождает недостижимые объекты не обязательно немедленно.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9C1CD"/>
                </a:solidFill>
                <a:latin typeface="Aptos"/>
              </a:rPr>
              <a:t>Java Memory • Heap vs Stack   |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14. Как отвечать на собеседовании?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9C1CD"/>
                </a:solidFill>
                <a:latin typeface="Aptos"/>
              </a:rPr>
              <a:t>Короткий сильный ответ на 30–40 секунд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10607040" cy="4526280"/>
          </a:xfrm>
          <a:prstGeom prst="roundRect">
            <a:avLst/>
          </a:prstGeom>
          <a:solidFill>
            <a:srgbClr val="1E2430"/>
          </a:solidFill>
          <a:ln>
            <a:solidFill>
              <a:srgbClr val="1E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828800"/>
            <a:ext cx="98755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7FA"/>
                </a:solidFill>
                <a:latin typeface="Aptos"/>
              </a:rPr>
              <a:t>«Stack и Heap — две важные части модели памяти JVM. У каждого потока есть собственный Stack, где создаются Stack Frame при вызове методов. В этих кадрах находятся локальные данные и ссылки. Heap — общая область, где размещаются объекты и массивы. Память Heap управляется Garbage Collector. Если Stack переполняется из-за глубокой рекурсии, получаем StackOverflowError. Если приложению не хватает памяти Heap, возможен OutOfMemoryError. При этом это упрощённая модель: конкретные оптимизации зависят от JVM.»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9C1CD"/>
                </a:solidFill>
                <a:latin typeface="Aptos"/>
              </a:rPr>
              <a:t>Java Memory • Heap vs Stack   |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15. Практическая демонстрация в IntelliJ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9C1CD"/>
                </a:solidFill>
                <a:latin typeface="Aptos"/>
              </a:rPr>
              <a:t>Что показать зрителю на экране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303520" cy="4526280"/>
          </a:xfrm>
          <a:prstGeom prst="roundRect">
            <a:avLst/>
          </a:prstGeom>
          <a:solidFill>
            <a:srgbClr val="1E2430"/>
          </a:solidFill>
          <a:ln>
            <a:solidFill>
              <a:srgbClr val="1E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B555A"/>
                </a:solidFill>
                <a:latin typeface="Aptos"/>
              </a:rPr>
              <a:t>Demo 1 — StackOverflow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5F7FA"/>
                </a:solidFill>
                <a:latin typeface="Aptos"/>
              </a:rPr>
              <a:t>static void triggerStackOverflow() {</a:t>
            </a:r>
            <a:br/>
            <a:r>
              <a:t>    triggerStackOverflow();</a:t>
            </a:r>
            <a:br/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947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B9C1CD"/>
                </a:solidFill>
                <a:latin typeface="Aptos"/>
              </a:rPr>
              <a:t>Запустить → показать stack trace.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303520" cy="4526280"/>
          </a:xfrm>
          <a:prstGeom prst="roundRect">
            <a:avLst/>
          </a:prstGeom>
          <a:solidFill>
            <a:srgbClr val="1E2430"/>
          </a:solidFill>
          <a:ln>
            <a:solidFill>
              <a:srgbClr val="1E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8BE7D"/>
                </a:solidFill>
                <a:latin typeface="Aptos"/>
              </a:rPr>
              <a:t>Demo 2 — Heap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4028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Aptos"/>
              </a:rPr>
              <a:t>List&lt;byte[]&gt; list = new ArrayList&lt;&gt;();</a:t>
            </a:r>
            <a:br/>
            <a:r>
              <a:t>while (true) {</a:t>
            </a:r>
            <a:br/>
            <a:r>
              <a:t>    list.add(new byte[10_000_000]);</a:t>
            </a:r>
            <a:br/>
            <a: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1605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B9C1CD"/>
                </a:solidFill>
                <a:latin typeface="Aptos"/>
              </a:rPr>
              <a:t>Запустить → показать OutOfMemoryError.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9C1CD"/>
                </a:solidFill>
                <a:latin typeface="Aptos"/>
              </a:rPr>
              <a:t>Java Memory • Heap vs Stack   |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16. Финальная шпаргалка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9C1CD"/>
                </a:solidFill>
                <a:latin typeface="Aptos"/>
              </a:rPr>
              <a:t>Запомни четыре связи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1554480"/>
          </a:xfrm>
          <a:prstGeom prst="roundRect">
            <a:avLst/>
          </a:prstGeom>
          <a:solidFill>
            <a:srgbClr val="1E2430"/>
          </a:solidFill>
          <a:ln>
            <a:solidFill>
              <a:srgbClr val="4B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4B96FF"/>
                </a:solidFill>
                <a:latin typeface="Aptos"/>
              </a:rPr>
              <a:t>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3317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5F7FA"/>
                </a:solidFill>
                <a:latin typeface="Aptos"/>
              </a:rPr>
              <a:t>Метод → Stack Frame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463040"/>
            <a:ext cx="5120640" cy="1554480"/>
          </a:xfrm>
          <a:prstGeom prst="roundRect">
            <a:avLst/>
          </a:prstGeom>
          <a:solidFill>
            <a:srgbClr val="1E2430"/>
          </a:solidFill>
          <a:ln>
            <a:solidFill>
              <a:srgbClr val="F5A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373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5AA41"/>
                </a:solidFill>
                <a:latin typeface="Aptos"/>
              </a:rPr>
              <a:t>REFERENCE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3317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5F7FA"/>
                </a:solidFill>
                <a:latin typeface="Aptos"/>
              </a:rPr>
              <a:t>Ссылка → указывает на объект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20440"/>
            <a:ext cx="5120640" cy="1554480"/>
          </a:xfrm>
          <a:prstGeom prst="roundRect">
            <a:avLst/>
          </a:prstGeom>
          <a:solidFill>
            <a:srgbClr val="1E2430"/>
          </a:solidFill>
          <a:ln>
            <a:solidFill>
              <a:srgbClr val="48B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7947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48BE7D"/>
                </a:solidFill>
                <a:latin typeface="Aptos"/>
              </a:rPr>
              <a:t>HEAP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3891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5F7FA"/>
                </a:solidFill>
                <a:latin typeface="Aptos"/>
              </a:rPr>
              <a:t>new → объект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3520440"/>
            <a:ext cx="5120640" cy="1554480"/>
          </a:xfrm>
          <a:prstGeom prst="roundRect">
            <a:avLst/>
          </a:prstGeom>
          <a:solidFill>
            <a:srgbClr val="1E2430"/>
          </a:solidFill>
          <a:ln>
            <a:solidFill>
              <a:srgbClr val="EB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7947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EB555A"/>
                </a:solidFill>
                <a:latin typeface="Aptos"/>
              </a:rPr>
              <a:t>ERRORS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3891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5F7FA"/>
                </a:solidFill>
                <a:latin typeface="Aptos"/>
              </a:rPr>
              <a:t>StackOverflow / OutOfMemory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F7FA"/>
                </a:solidFill>
                <a:latin typeface="Aptos"/>
              </a:rPr>
              <a:t>Главная мысль: Stack хранит контекст выполнения, Heap — объекты.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9C1CD"/>
                </a:solidFill>
                <a:latin typeface="Aptos"/>
              </a:rPr>
              <a:t>Java Memory • Heap vs Stack   |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17. Спасибо за просмотр! 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9C1CD"/>
                </a:solidFill>
                <a:latin typeface="Aptos"/>
              </a:rPr>
              <a:t>Память Java — одна из тем, которую важно не просто выучить, а понять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4B96FF"/>
                </a:solidFill>
                <a:latin typeface="Aptos"/>
              </a:rPr>
              <a:t>STACK  ↔  REFERENCE  ↔  HEAP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880360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F5F7FA"/>
                </a:solidFill>
                <a:latin typeface="Aptos"/>
              </a:rPr>
              <a:t>Практикуйся в IntelliJ IDEA и проверяй теорию реальными экспериментами.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16052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B9C1CD"/>
                </a:solidFill>
                <a:latin typeface="Aptos"/>
              </a:rPr>
              <a:t>Java • JVM • OOP •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9C1CD"/>
                </a:solidFill>
                <a:latin typeface="Aptos"/>
              </a:rPr>
              <a:t>Java Memory • Heap vs Stack   |  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